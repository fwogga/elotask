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K Grotesk Bold" charset="1" panose="00000800000000000000"/>
      <p:regular r:id="rId17"/>
    </p:embeddedFont>
    <p:embeddedFont>
      <p:font typeface="Assistant" charset="1" panose="00000500000000000000"/>
      <p:regular r:id="rId18"/>
    </p:embeddedFont>
    <p:embeddedFont>
      <p:font typeface="Assistant Bold" charset="1" panose="00000800000000000000"/>
      <p:regular r:id="rId19"/>
    </p:embeddedFont>
    <p:embeddedFont>
      <p:font typeface="Halant Medium" charset="1" panose="000006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8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1.png" Type="http://schemas.openxmlformats.org/officeDocument/2006/relationships/image"/><Relationship Id="rId4" Target="../media/image2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069" y="8254678"/>
            <a:ext cx="7124398" cy="166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  <a:spcBef>
                <a:spcPct val="0"/>
              </a:spcBef>
            </a:pPr>
            <a:r>
              <a:rPr lang="en-US" b="true" sz="24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Cássia</a:t>
            </a:r>
            <a:r>
              <a:rPr lang="en-US" b="true" sz="24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Baptista – 20231704 </a:t>
            </a:r>
          </a:p>
          <a:p>
            <a:pPr algn="l">
              <a:lnSpc>
                <a:spcPts val="3374"/>
              </a:lnSpc>
              <a:spcBef>
                <a:spcPct val="0"/>
              </a:spcBef>
            </a:pPr>
            <a:r>
              <a:rPr lang="en-US" b="true" sz="24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Marlinda Congo – 20241718 </a:t>
            </a:r>
          </a:p>
          <a:p>
            <a:pPr algn="l">
              <a:lnSpc>
                <a:spcPts val="3374"/>
              </a:lnSpc>
              <a:spcBef>
                <a:spcPct val="0"/>
              </a:spcBef>
            </a:pPr>
            <a:r>
              <a:rPr lang="en-US" b="true" sz="24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Miguel Almeida – 20240206</a:t>
            </a:r>
          </a:p>
          <a:p>
            <a:pPr algn="l">
              <a:lnSpc>
                <a:spcPts val="3374"/>
              </a:lnSpc>
              <a:spcBef>
                <a:spcPct val="0"/>
              </a:spcBef>
            </a:pPr>
            <a:r>
              <a:rPr lang="en-US" b="true" sz="24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Deuwer Rabelais – 20241521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11607" y="666518"/>
            <a:ext cx="14464786" cy="394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15"/>
              </a:lnSpc>
            </a:pPr>
            <a:r>
              <a:rPr lang="en-US" sz="131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Elo</a:t>
            </a:r>
            <a:r>
              <a:rPr lang="en-US" sz="13148" b="true">
                <a:gradFill>
                  <a:gsLst>
                    <a:gs pos="15000">
                      <a:srgbClr val="0E1938">
                        <a:alpha val="100000"/>
                      </a:srgbClr>
                    </a:gs>
                    <a:gs pos="40000">
                      <a:srgbClr val="6B41BF">
                        <a:alpha val="100000"/>
                      </a:srgbClr>
                    </a:gs>
                    <a:gs pos="60000">
                      <a:srgbClr val="F359D2">
                        <a:alpha val="100000"/>
                      </a:srgbClr>
                    </a:gs>
                    <a:gs pos="85000">
                      <a:srgbClr val="FFC2C3">
                        <a:alpha val="100000"/>
                      </a:srgbClr>
                    </a:gs>
                  </a:gsLst>
                  <a:lin ang="18900000"/>
                </a:gradFill>
                <a:latin typeface="HK Grotesk Bold"/>
                <a:ea typeface="HK Grotesk Bold"/>
                <a:cs typeface="HK Grotesk Bold"/>
                <a:sym typeface="HK Grotesk Bold"/>
              </a:rPr>
              <a:t>Task</a:t>
            </a:r>
          </a:p>
          <a:p>
            <a:pPr algn="l">
              <a:lnSpc>
                <a:spcPts val="1551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624184">
            <a:off x="9190413" y="-1204481"/>
            <a:ext cx="9054625" cy="8058616"/>
          </a:xfrm>
          <a:custGeom>
            <a:avLst/>
            <a:gdLst/>
            <a:ahLst/>
            <a:cxnLst/>
            <a:rect r="r" b="b" t="t" l="l"/>
            <a:pathLst>
              <a:path h="8058616" w="9054625">
                <a:moveTo>
                  <a:pt x="0" y="0"/>
                </a:moveTo>
                <a:lnTo>
                  <a:pt x="9054625" y="0"/>
                </a:lnTo>
                <a:lnTo>
                  <a:pt x="9054625" y="8058616"/>
                </a:lnTo>
                <a:lnTo>
                  <a:pt x="0" y="8058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017281">
            <a:off x="8842320" y="4285425"/>
            <a:ext cx="1811240" cy="1716150"/>
          </a:xfrm>
          <a:custGeom>
            <a:avLst/>
            <a:gdLst/>
            <a:ahLst/>
            <a:cxnLst/>
            <a:rect r="r" b="b" t="t" l="l"/>
            <a:pathLst>
              <a:path h="1716150" w="1811240">
                <a:moveTo>
                  <a:pt x="0" y="0"/>
                </a:moveTo>
                <a:lnTo>
                  <a:pt x="1811240" y="0"/>
                </a:lnTo>
                <a:lnTo>
                  <a:pt x="1811240" y="1716150"/>
                </a:lnTo>
                <a:lnTo>
                  <a:pt x="0" y="1716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567437">
            <a:off x="16126494" y="6825098"/>
            <a:ext cx="3789612" cy="3623816"/>
          </a:xfrm>
          <a:custGeom>
            <a:avLst/>
            <a:gdLst/>
            <a:ahLst/>
            <a:cxnLst/>
            <a:rect r="r" b="b" t="t" l="l"/>
            <a:pathLst>
              <a:path h="3623816" w="3789612">
                <a:moveTo>
                  <a:pt x="0" y="0"/>
                </a:moveTo>
                <a:lnTo>
                  <a:pt x="3789612" y="0"/>
                </a:lnTo>
                <a:lnTo>
                  <a:pt x="3789612" y="3623816"/>
                </a:lnTo>
                <a:lnTo>
                  <a:pt x="0" y="3623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30450" y="417640"/>
            <a:ext cx="3318299" cy="2212199"/>
          </a:xfrm>
          <a:custGeom>
            <a:avLst/>
            <a:gdLst/>
            <a:ahLst/>
            <a:cxnLst/>
            <a:rect r="r" b="b" t="t" l="l"/>
            <a:pathLst>
              <a:path h="2212199" w="3318299">
                <a:moveTo>
                  <a:pt x="0" y="0"/>
                </a:moveTo>
                <a:lnTo>
                  <a:pt x="3318300" y="0"/>
                </a:lnTo>
                <a:lnTo>
                  <a:pt x="3318300" y="2212199"/>
                </a:lnTo>
                <a:lnTo>
                  <a:pt x="0" y="2212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9947" y="2305706"/>
            <a:ext cx="6216181" cy="32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b="true" sz="1898">
                <a:solidFill>
                  <a:srgbClr val="A6A6A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CONECTA, COMUNICA, COLABORA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99663">
            <a:off x="4111359" y="-3364814"/>
            <a:ext cx="9366851" cy="8957051"/>
          </a:xfrm>
          <a:custGeom>
            <a:avLst/>
            <a:gdLst/>
            <a:ahLst/>
            <a:cxnLst/>
            <a:rect r="r" b="b" t="t" l="l"/>
            <a:pathLst>
              <a:path h="8957051" w="9366851">
                <a:moveTo>
                  <a:pt x="0" y="0"/>
                </a:moveTo>
                <a:lnTo>
                  <a:pt x="9366851" y="0"/>
                </a:lnTo>
                <a:lnTo>
                  <a:pt x="9366851" y="8957051"/>
                </a:lnTo>
                <a:lnTo>
                  <a:pt x="0" y="89570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15964">
            <a:off x="14635296" y="2779072"/>
            <a:ext cx="2207918" cy="2092002"/>
          </a:xfrm>
          <a:custGeom>
            <a:avLst/>
            <a:gdLst/>
            <a:ahLst/>
            <a:cxnLst/>
            <a:rect r="r" b="b" t="t" l="l"/>
            <a:pathLst>
              <a:path h="2092002" w="2207918">
                <a:moveTo>
                  <a:pt x="0" y="0"/>
                </a:moveTo>
                <a:lnTo>
                  <a:pt x="2207918" y="0"/>
                </a:lnTo>
                <a:lnTo>
                  <a:pt x="2207918" y="2092003"/>
                </a:lnTo>
                <a:lnTo>
                  <a:pt x="0" y="2092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94911">
            <a:off x="16125490" y="7311630"/>
            <a:ext cx="5163362" cy="4892285"/>
          </a:xfrm>
          <a:custGeom>
            <a:avLst/>
            <a:gdLst/>
            <a:ahLst/>
            <a:cxnLst/>
            <a:rect r="r" b="b" t="t" l="l"/>
            <a:pathLst>
              <a:path h="4892285" w="5163362">
                <a:moveTo>
                  <a:pt x="0" y="0"/>
                </a:moveTo>
                <a:lnTo>
                  <a:pt x="5163361" y="0"/>
                </a:lnTo>
                <a:lnTo>
                  <a:pt x="5163361" y="4892285"/>
                </a:lnTo>
                <a:lnTo>
                  <a:pt x="0" y="48922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08932" y="1475637"/>
            <a:ext cx="7844619" cy="2589297"/>
            <a:chOff x="0" y="0"/>
            <a:chExt cx="10459492" cy="345239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16642"/>
              <a:ext cx="10459492" cy="223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87"/>
                </a:lnSpc>
              </a:pPr>
              <a:r>
                <a:rPr lang="en-US" sz="5582" b="true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Identificação do problema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7436717" cy="6228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8932" y="3292202"/>
            <a:ext cx="8285853" cy="6273122"/>
            <a:chOff x="0" y="0"/>
            <a:chExt cx="11047804" cy="836416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5636001" cy="799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4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91019"/>
              <a:ext cx="11047804" cy="69731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8"/>
                </a:lnSpc>
              </a:pPr>
              <a:r>
                <a:rPr lang="en-US" sz="2506" spc="-25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A proposta consiste no desenvolvimento de uma plataforma web que reúne em num único espaço as principais ferramentas necessárias para um trabalho em equipa, como comunicação, gestão de tarefas e projetos, reuniões, calendário e partilha de documentos.</a:t>
              </a:r>
            </a:p>
            <a:p>
              <a:pPr algn="l">
                <a:lnSpc>
                  <a:spcPts val="3508"/>
                </a:lnSpc>
              </a:pPr>
            </a:p>
            <a:p>
              <a:pPr algn="l">
                <a:lnSpc>
                  <a:spcPts val="3508"/>
                </a:lnSpc>
              </a:pPr>
            </a:p>
            <a:p>
              <a:pPr algn="l">
                <a:lnSpc>
                  <a:spcPts val="3508"/>
                </a:lnSpc>
              </a:pPr>
              <a:r>
                <a:rPr lang="en-US" sz="2506" spc="-25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O </a:t>
              </a:r>
              <a:r>
                <a:rPr lang="en-US" sz="2506" spc="-25" b="true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objetivo</a:t>
              </a:r>
              <a:r>
                <a:rPr lang="en-US" sz="2506" spc="-25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é simplificar e organizar a colaboração, evitando a utilização de várias aplicações e permitindo que a comunicação, as tarefas e o progresso do projeto estejam integrados numa única plataforma.</a:t>
              </a:r>
            </a:p>
            <a:p>
              <a:pPr algn="l">
                <a:lnSpc>
                  <a:spcPts val="3508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98824">
            <a:off x="12555249" y="4939834"/>
            <a:ext cx="6575294" cy="7268784"/>
          </a:xfrm>
          <a:custGeom>
            <a:avLst/>
            <a:gdLst/>
            <a:ahLst/>
            <a:cxnLst/>
            <a:rect r="r" b="b" t="t" l="l"/>
            <a:pathLst>
              <a:path h="7268784" w="6575294">
                <a:moveTo>
                  <a:pt x="0" y="0"/>
                </a:moveTo>
                <a:lnTo>
                  <a:pt x="6575295" y="0"/>
                </a:lnTo>
                <a:lnTo>
                  <a:pt x="6575295" y="7268784"/>
                </a:lnTo>
                <a:lnTo>
                  <a:pt x="0" y="7268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81" b="-117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15964">
            <a:off x="8597713" y="7771526"/>
            <a:ext cx="1844500" cy="1747664"/>
          </a:xfrm>
          <a:custGeom>
            <a:avLst/>
            <a:gdLst/>
            <a:ahLst/>
            <a:cxnLst/>
            <a:rect r="r" b="b" t="t" l="l"/>
            <a:pathLst>
              <a:path h="1747664" w="1844500">
                <a:moveTo>
                  <a:pt x="0" y="0"/>
                </a:moveTo>
                <a:lnTo>
                  <a:pt x="1844500" y="0"/>
                </a:lnTo>
                <a:lnTo>
                  <a:pt x="1844500" y="1747664"/>
                </a:lnTo>
                <a:lnTo>
                  <a:pt x="0" y="1747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78125">
            <a:off x="12070219" y="-1362141"/>
            <a:ext cx="4943405" cy="5723190"/>
          </a:xfrm>
          <a:custGeom>
            <a:avLst/>
            <a:gdLst/>
            <a:ahLst/>
            <a:cxnLst/>
            <a:rect r="r" b="b" t="t" l="l"/>
            <a:pathLst>
              <a:path h="5723190" w="4943405">
                <a:moveTo>
                  <a:pt x="0" y="0"/>
                </a:moveTo>
                <a:lnTo>
                  <a:pt x="4943405" y="0"/>
                </a:lnTo>
                <a:lnTo>
                  <a:pt x="4943405" y="5723190"/>
                </a:lnTo>
                <a:lnTo>
                  <a:pt x="0" y="57231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67101" y="-1769556"/>
            <a:ext cx="10422711" cy="10857992"/>
            <a:chOff x="0" y="0"/>
            <a:chExt cx="13896948" cy="1447732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802022"/>
              <a:ext cx="13896948" cy="1549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18"/>
                </a:lnSpc>
              </a:pPr>
              <a:r>
                <a:rPr lang="en-US" sz="7642" b="true">
                  <a:solidFill>
                    <a:srgbClr val="0E19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Motivação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9525"/>
              <a:ext cx="2514541" cy="1346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10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901156"/>
              <a:ext cx="11643655" cy="7576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 spc="-27">
                  <a:solidFill>
                    <a:srgbClr val="0E1938"/>
                  </a:solidFill>
                  <a:latin typeface="Assistant"/>
                  <a:ea typeface="Assistant"/>
                  <a:cs typeface="Assistant"/>
                  <a:sym typeface="Assistant"/>
                </a:rPr>
                <a:t>Atualmente, o trabalho em equipa envolve frequentemente a utilização de várias plataformas para comunicar, realizar reuniões, gerir tarefas, partilhar documentos e organizar prazos. Esta fragmentação pode causar </a:t>
              </a:r>
              <a:r>
                <a:rPr lang="en-US" sz="2700" spc="-27" b="true">
                  <a:solidFill>
                    <a:srgbClr val="0E1938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dispersão da informação, perda de tempo e dificuldade no acompanhamento das atividades.</a:t>
              </a:r>
            </a:p>
            <a:p>
              <a:pPr algn="l">
                <a:lnSpc>
                  <a:spcPts val="3780"/>
                </a:lnSpc>
              </a:pPr>
            </a:p>
            <a:p>
              <a:pPr algn="l">
                <a:lnSpc>
                  <a:spcPts val="3780"/>
                </a:lnSpc>
              </a:pPr>
            </a:p>
            <a:p>
              <a:pPr algn="l">
                <a:lnSpc>
                  <a:spcPts val="3780"/>
                </a:lnSpc>
              </a:pPr>
              <a:r>
                <a:rPr lang="en-US" sz="2700" spc="-27">
                  <a:solidFill>
                    <a:srgbClr val="0E1938"/>
                  </a:solidFill>
                  <a:latin typeface="Assistant"/>
                  <a:ea typeface="Assistant"/>
                  <a:cs typeface="Assistant"/>
                  <a:sym typeface="Assistant"/>
                </a:rPr>
                <a:t>Surge a necessidade de uma solução que </a:t>
              </a:r>
              <a:r>
                <a:rPr lang="en-US" sz="2700" spc="-27" b="true">
                  <a:solidFill>
                    <a:srgbClr val="0E1938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centralize estas funcionalidades num único espaço,</a:t>
              </a:r>
              <a:r>
                <a:rPr lang="en-US" sz="2700" spc="-27">
                  <a:solidFill>
                    <a:srgbClr val="0E1938"/>
                  </a:solidFill>
                  <a:latin typeface="Assistant"/>
                  <a:ea typeface="Assistant"/>
                  <a:cs typeface="Assistant"/>
                  <a:sym typeface="Assistant"/>
                </a:rPr>
                <a:t> tornando a colaboração mais simples, organizada e eficiente.</a:t>
              </a:r>
            </a:p>
            <a:p>
              <a:pPr algn="l">
                <a:lnSpc>
                  <a:spcPts val="378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2430" y="-797143"/>
            <a:ext cx="3390005" cy="3212030"/>
          </a:xfrm>
          <a:custGeom>
            <a:avLst/>
            <a:gdLst/>
            <a:ahLst/>
            <a:cxnLst/>
            <a:rect r="r" b="b" t="t" l="l"/>
            <a:pathLst>
              <a:path h="3212030" w="3390005">
                <a:moveTo>
                  <a:pt x="0" y="0"/>
                </a:moveTo>
                <a:lnTo>
                  <a:pt x="3390005" y="0"/>
                </a:lnTo>
                <a:lnTo>
                  <a:pt x="3390005" y="3212030"/>
                </a:lnTo>
                <a:lnTo>
                  <a:pt x="0" y="3212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47366">
            <a:off x="16140662" y="8051884"/>
            <a:ext cx="2237275" cy="3439774"/>
          </a:xfrm>
          <a:custGeom>
            <a:avLst/>
            <a:gdLst/>
            <a:ahLst/>
            <a:cxnLst/>
            <a:rect r="r" b="b" t="t" l="l"/>
            <a:pathLst>
              <a:path h="3439774" w="2237275">
                <a:moveTo>
                  <a:pt x="0" y="0"/>
                </a:moveTo>
                <a:lnTo>
                  <a:pt x="2237276" y="0"/>
                </a:lnTo>
                <a:lnTo>
                  <a:pt x="2237276" y="3439774"/>
                </a:lnTo>
                <a:lnTo>
                  <a:pt x="0" y="3439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078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82534" y="1561618"/>
            <a:ext cx="8360191" cy="4503549"/>
          </a:xfrm>
          <a:custGeom>
            <a:avLst/>
            <a:gdLst/>
            <a:ahLst/>
            <a:cxnLst/>
            <a:rect r="r" b="b" t="t" l="l"/>
            <a:pathLst>
              <a:path h="4503549" w="8360191">
                <a:moveTo>
                  <a:pt x="0" y="0"/>
                </a:moveTo>
                <a:lnTo>
                  <a:pt x="8360192" y="0"/>
                </a:lnTo>
                <a:lnTo>
                  <a:pt x="8360192" y="4503549"/>
                </a:lnTo>
                <a:lnTo>
                  <a:pt x="0" y="4503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00" t="0" r="-1040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098" y="5612463"/>
            <a:ext cx="9505674" cy="4617603"/>
          </a:xfrm>
          <a:custGeom>
            <a:avLst/>
            <a:gdLst/>
            <a:ahLst/>
            <a:cxnLst/>
            <a:rect r="r" b="b" t="t" l="l"/>
            <a:pathLst>
              <a:path h="4617603" w="9505674">
                <a:moveTo>
                  <a:pt x="0" y="0"/>
                </a:moveTo>
                <a:lnTo>
                  <a:pt x="9505675" y="0"/>
                </a:lnTo>
                <a:lnTo>
                  <a:pt x="9505675" y="4617603"/>
                </a:lnTo>
                <a:lnTo>
                  <a:pt x="0" y="4617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17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40764" y="505307"/>
            <a:ext cx="8721866" cy="105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7072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</a:t>
            </a:r>
            <a:r>
              <a:rPr lang="en-US" sz="7072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esultados obtidos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6856" y="8741800"/>
            <a:ext cx="2729129" cy="2585849"/>
          </a:xfrm>
          <a:custGeom>
            <a:avLst/>
            <a:gdLst/>
            <a:ahLst/>
            <a:cxnLst/>
            <a:rect r="r" b="b" t="t" l="l"/>
            <a:pathLst>
              <a:path h="2585849" w="2729129">
                <a:moveTo>
                  <a:pt x="0" y="0"/>
                </a:moveTo>
                <a:lnTo>
                  <a:pt x="2729128" y="0"/>
                </a:lnTo>
                <a:lnTo>
                  <a:pt x="2729128" y="2585849"/>
                </a:lnTo>
                <a:lnTo>
                  <a:pt x="0" y="2585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47366">
            <a:off x="13988778" y="-556262"/>
            <a:ext cx="2115944" cy="2023372"/>
          </a:xfrm>
          <a:custGeom>
            <a:avLst/>
            <a:gdLst/>
            <a:ahLst/>
            <a:cxnLst/>
            <a:rect r="r" b="b" t="t" l="l"/>
            <a:pathLst>
              <a:path h="2023372" w="2115944">
                <a:moveTo>
                  <a:pt x="0" y="0"/>
                </a:moveTo>
                <a:lnTo>
                  <a:pt x="2115944" y="0"/>
                </a:lnTo>
                <a:lnTo>
                  <a:pt x="2115944" y="2023372"/>
                </a:lnTo>
                <a:lnTo>
                  <a:pt x="0" y="2023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6453" y="455424"/>
            <a:ext cx="11178103" cy="5122339"/>
          </a:xfrm>
          <a:custGeom>
            <a:avLst/>
            <a:gdLst/>
            <a:ahLst/>
            <a:cxnLst/>
            <a:rect r="r" b="b" t="t" l="l"/>
            <a:pathLst>
              <a:path h="5122339" w="11178103">
                <a:moveTo>
                  <a:pt x="0" y="0"/>
                </a:moveTo>
                <a:lnTo>
                  <a:pt x="11178102" y="0"/>
                </a:lnTo>
                <a:lnTo>
                  <a:pt x="11178102" y="5122340"/>
                </a:lnTo>
                <a:lnTo>
                  <a:pt x="0" y="5122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7" t="0" r="-51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95538" y="5333001"/>
            <a:ext cx="10392462" cy="4713521"/>
          </a:xfrm>
          <a:custGeom>
            <a:avLst/>
            <a:gdLst/>
            <a:ahLst/>
            <a:cxnLst/>
            <a:rect r="r" b="b" t="t" l="l"/>
            <a:pathLst>
              <a:path h="4713521" w="10392462">
                <a:moveTo>
                  <a:pt x="0" y="0"/>
                </a:moveTo>
                <a:lnTo>
                  <a:pt x="10392462" y="0"/>
                </a:lnTo>
                <a:lnTo>
                  <a:pt x="10392462" y="4713521"/>
                </a:lnTo>
                <a:lnTo>
                  <a:pt x="0" y="47135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624184">
            <a:off x="9190413" y="-1204481"/>
            <a:ext cx="9054625" cy="8058616"/>
          </a:xfrm>
          <a:custGeom>
            <a:avLst/>
            <a:gdLst/>
            <a:ahLst/>
            <a:cxnLst/>
            <a:rect r="r" b="b" t="t" l="l"/>
            <a:pathLst>
              <a:path h="8058616" w="9054625">
                <a:moveTo>
                  <a:pt x="0" y="0"/>
                </a:moveTo>
                <a:lnTo>
                  <a:pt x="9054625" y="0"/>
                </a:lnTo>
                <a:lnTo>
                  <a:pt x="9054625" y="8058616"/>
                </a:lnTo>
                <a:lnTo>
                  <a:pt x="0" y="8058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67437">
            <a:off x="16126494" y="6825098"/>
            <a:ext cx="3789612" cy="3623816"/>
          </a:xfrm>
          <a:custGeom>
            <a:avLst/>
            <a:gdLst/>
            <a:ahLst/>
            <a:cxnLst/>
            <a:rect r="r" b="b" t="t" l="l"/>
            <a:pathLst>
              <a:path h="3623816" w="3789612">
                <a:moveTo>
                  <a:pt x="0" y="0"/>
                </a:moveTo>
                <a:lnTo>
                  <a:pt x="3789612" y="0"/>
                </a:lnTo>
                <a:lnTo>
                  <a:pt x="3789612" y="3623816"/>
                </a:lnTo>
                <a:lnTo>
                  <a:pt x="0" y="3623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12130" y="0"/>
            <a:ext cx="11832651" cy="9465440"/>
            <a:chOff x="0" y="0"/>
            <a:chExt cx="15776867" cy="1262058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150818"/>
              <a:ext cx="15776867" cy="1656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91"/>
                </a:lnSpc>
              </a:pPr>
              <a:r>
                <a:rPr lang="en-US" sz="8213" b="true">
                  <a:solidFill>
                    <a:srgbClr val="0E19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Solução Proposta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525"/>
              <a:ext cx="3330206" cy="1436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04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733964"/>
              <a:ext cx="12033394" cy="7886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40"/>
                </a:lnSpc>
              </a:pPr>
              <a:r>
                <a:rPr lang="en-US" sz="2814" spc="-28">
                  <a:solidFill>
                    <a:srgbClr val="0E1938"/>
                  </a:solidFill>
                  <a:latin typeface="Assistant"/>
                  <a:ea typeface="Assistant"/>
                  <a:cs typeface="Assistant"/>
                  <a:sym typeface="Assistant"/>
                </a:rPr>
                <a:t>A solução consiste numa plataforma integrada que permite </a:t>
              </a:r>
              <a:r>
                <a:rPr lang="en-US" sz="2814" spc="-28" b="true">
                  <a:solidFill>
                    <a:srgbClr val="0E1938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comunicar, organizar e gerir o trabalho </a:t>
              </a:r>
              <a:r>
                <a:rPr lang="en-US" sz="2814" spc="-28">
                  <a:solidFill>
                    <a:srgbClr val="0E1938"/>
                  </a:solidFill>
                  <a:latin typeface="Assistant"/>
                  <a:ea typeface="Assistant"/>
                  <a:cs typeface="Assistant"/>
                  <a:sym typeface="Assistant"/>
                </a:rPr>
                <a:t>num único ambiente. Os utilizadores poderão criar projetos, trocar mensagens, realizar reuniões, distribuir tarefas, definir responsáveis e prazos, partilhar documentos e acompanhar o progresso das atividades.</a:t>
              </a:r>
            </a:p>
            <a:p>
              <a:pPr algn="l">
                <a:lnSpc>
                  <a:spcPts val="3940"/>
                </a:lnSpc>
              </a:pPr>
            </a:p>
            <a:p>
              <a:pPr algn="l">
                <a:lnSpc>
                  <a:spcPts val="3940"/>
                </a:lnSpc>
              </a:pPr>
              <a:r>
                <a:rPr lang="en-US" sz="2814" spc="-28">
                  <a:solidFill>
                    <a:srgbClr val="0E1938"/>
                  </a:solidFill>
                  <a:latin typeface="Assistant"/>
                  <a:ea typeface="Assistant"/>
                  <a:cs typeface="Assistant"/>
                  <a:sym typeface="Assistant"/>
                </a:rPr>
                <a:t>A principal vantagem está na</a:t>
              </a:r>
              <a:r>
                <a:rPr lang="en-US" sz="2814" spc="-28" b="true">
                  <a:solidFill>
                    <a:srgbClr val="0E1938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 integração entre estas funcionalidades</a:t>
              </a:r>
              <a:r>
                <a:rPr lang="en-US" sz="2814" spc="-28">
                  <a:solidFill>
                    <a:srgbClr val="0E1938"/>
                  </a:solidFill>
                  <a:latin typeface="Assistant"/>
                  <a:ea typeface="Assistant"/>
                  <a:cs typeface="Assistant"/>
                  <a:sym typeface="Assistant"/>
                </a:rPr>
                <a:t>, permitindo que a comunicação e a gestão do trabalho estejam diretamente relacionadas dentro de cada projeto.</a:t>
              </a:r>
            </a:p>
            <a:p>
              <a:pPr algn="l">
                <a:lnSpc>
                  <a:spcPts val="39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730745">
            <a:off x="11743773" y="5379760"/>
            <a:ext cx="9901401" cy="8812247"/>
          </a:xfrm>
          <a:custGeom>
            <a:avLst/>
            <a:gdLst/>
            <a:ahLst/>
            <a:cxnLst/>
            <a:rect r="r" b="b" t="t" l="l"/>
            <a:pathLst>
              <a:path h="8812247" w="9901401">
                <a:moveTo>
                  <a:pt x="0" y="0"/>
                </a:moveTo>
                <a:lnTo>
                  <a:pt x="9901401" y="0"/>
                </a:lnTo>
                <a:lnTo>
                  <a:pt x="9901401" y="8812247"/>
                </a:lnTo>
                <a:lnTo>
                  <a:pt x="0" y="88122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38557" y="443828"/>
            <a:ext cx="6234899" cy="9399345"/>
          </a:xfrm>
          <a:custGeom>
            <a:avLst/>
            <a:gdLst/>
            <a:ahLst/>
            <a:cxnLst/>
            <a:rect r="r" b="b" t="t" l="l"/>
            <a:pathLst>
              <a:path h="9399345" w="6234899">
                <a:moveTo>
                  <a:pt x="0" y="0"/>
                </a:moveTo>
                <a:lnTo>
                  <a:pt x="6234898" y="0"/>
                </a:lnTo>
                <a:lnTo>
                  <a:pt x="6234898" y="9399344"/>
                </a:lnTo>
                <a:lnTo>
                  <a:pt x="0" y="9399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15964">
            <a:off x="-372218" y="-446597"/>
            <a:ext cx="2207918" cy="2092002"/>
          </a:xfrm>
          <a:custGeom>
            <a:avLst/>
            <a:gdLst/>
            <a:ahLst/>
            <a:cxnLst/>
            <a:rect r="r" b="b" t="t" l="l"/>
            <a:pathLst>
              <a:path h="2092002" w="2207918">
                <a:moveTo>
                  <a:pt x="0" y="0"/>
                </a:moveTo>
                <a:lnTo>
                  <a:pt x="2207918" y="0"/>
                </a:lnTo>
                <a:lnTo>
                  <a:pt x="2207918" y="2092002"/>
                </a:lnTo>
                <a:lnTo>
                  <a:pt x="0" y="2092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444472" y="1052750"/>
            <a:ext cx="7513117" cy="209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27"/>
              </a:lnSpc>
            </a:pPr>
            <a:r>
              <a:rPr lang="en-US" sz="6972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Diagrama de casos de uso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3409" y="1390788"/>
            <a:ext cx="10817893" cy="105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7072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Principais Funcionalidades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094169">
            <a:off x="-3088331" y="6271487"/>
            <a:ext cx="6176663" cy="5906434"/>
          </a:xfrm>
          <a:custGeom>
            <a:avLst/>
            <a:gdLst/>
            <a:ahLst/>
            <a:cxnLst/>
            <a:rect r="r" b="b" t="t" l="l"/>
            <a:pathLst>
              <a:path h="5906434" w="6176663">
                <a:moveTo>
                  <a:pt x="0" y="0"/>
                </a:moveTo>
                <a:lnTo>
                  <a:pt x="6176662" y="0"/>
                </a:lnTo>
                <a:lnTo>
                  <a:pt x="6176662" y="5906434"/>
                </a:lnTo>
                <a:lnTo>
                  <a:pt x="0" y="5906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40244" y="3667209"/>
            <a:ext cx="3343659" cy="4148876"/>
            <a:chOff x="0" y="0"/>
            <a:chExt cx="4458212" cy="553183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4458212" cy="1938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64"/>
                </a:lnSpc>
              </a:pPr>
              <a:r>
                <a:rPr lang="en-US" sz="4510" b="true">
                  <a:solidFill>
                    <a:srgbClr val="731F7D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Comunicação</a:t>
              </a:r>
            </a:p>
            <a:p>
              <a:pPr algn="l">
                <a:lnSpc>
                  <a:spcPts val="5864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605024"/>
              <a:ext cx="4458212" cy="2926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6898" indent="-273449" lvl="1">
                <a:lnSpc>
                  <a:spcPts val="354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533" spc="-25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Cha</a:t>
              </a:r>
              <a:r>
                <a:rPr lang="en-US" b="true" sz="2533" spc="-25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t individual</a:t>
              </a:r>
            </a:p>
            <a:p>
              <a:pPr algn="l" marL="546898" indent="-273449" lvl="1">
                <a:lnSpc>
                  <a:spcPts val="354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533" spc="-25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Chat de grupo</a:t>
              </a:r>
            </a:p>
            <a:p>
              <a:pPr algn="l" marL="546898" indent="-273449" lvl="1">
                <a:lnSpc>
                  <a:spcPts val="354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533" spc="-25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Canais</a:t>
              </a:r>
            </a:p>
            <a:p>
              <a:pPr algn="l" marL="546898" indent="-273449" lvl="1">
                <a:lnSpc>
                  <a:spcPts val="354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533" spc="-25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Notificações</a:t>
              </a:r>
            </a:p>
            <a:p>
              <a:pPr algn="l" marL="546898" indent="-273449" lvl="1">
                <a:lnSpc>
                  <a:spcPts val="354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533" spc="-25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Chamadas/reuniões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68178" y="3591659"/>
            <a:ext cx="3787282" cy="5068922"/>
            <a:chOff x="0" y="0"/>
            <a:chExt cx="5049709" cy="675856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5049709" cy="2792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82"/>
                </a:lnSpc>
                <a:spcBef>
                  <a:spcPct val="0"/>
                </a:spcBef>
              </a:pPr>
              <a:r>
                <a:rPr lang="en-US" b="true" sz="4294">
                  <a:solidFill>
                    <a:srgbClr val="731F7D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G</a:t>
              </a:r>
              <a:r>
                <a:rPr lang="en-US" b="true" sz="4294" u="none">
                  <a:solidFill>
                    <a:srgbClr val="731F7D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estão de trabalho</a:t>
              </a:r>
            </a:p>
            <a:p>
              <a:pPr algn="l" marL="0" indent="0" lvl="0">
                <a:lnSpc>
                  <a:spcPts val="5582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150519"/>
              <a:ext cx="5049709" cy="3608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7849" indent="-238924" lvl="1">
                <a:lnSpc>
                  <a:spcPts val="309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213" spc="-22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Pr</a:t>
              </a:r>
              <a:r>
                <a:rPr lang="en-US" b="true" sz="2213" spc="-22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ojetos</a:t>
              </a:r>
            </a:p>
            <a:p>
              <a:pPr algn="l" marL="477849" indent="-238924" lvl="1">
                <a:lnSpc>
                  <a:spcPts val="309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213" spc="-22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Tarefas</a:t>
              </a:r>
            </a:p>
            <a:p>
              <a:pPr algn="l" marL="477849" indent="-238924" lvl="1">
                <a:lnSpc>
                  <a:spcPts val="309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213" spc="-22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Responsáveis</a:t>
              </a:r>
            </a:p>
            <a:p>
              <a:pPr algn="l" marL="477849" indent="-238924" lvl="1">
                <a:lnSpc>
                  <a:spcPts val="309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213" spc="-22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Prioridades</a:t>
              </a:r>
            </a:p>
            <a:p>
              <a:pPr algn="l" marL="477849" indent="-238924" lvl="1">
                <a:lnSpc>
                  <a:spcPts val="309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213" spc="-22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Prazos</a:t>
              </a:r>
            </a:p>
            <a:p>
              <a:pPr algn="l" marL="477849" indent="-238924" lvl="1">
                <a:lnSpc>
                  <a:spcPts val="309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213" spc="-22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Estados das tarefas</a:t>
              </a:r>
            </a:p>
            <a:p>
              <a:pPr algn="l" marL="477849" indent="-238924" lvl="1">
                <a:lnSpc>
                  <a:spcPts val="309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213" spc="-22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Checklist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91783" y="3591659"/>
            <a:ext cx="3800572" cy="4224425"/>
            <a:chOff x="0" y="0"/>
            <a:chExt cx="5067430" cy="563256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067430" cy="2364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10"/>
                </a:lnSpc>
                <a:spcBef>
                  <a:spcPct val="0"/>
                </a:spcBef>
              </a:pPr>
              <a:r>
                <a:rPr lang="en-US" b="true" sz="5315">
                  <a:solidFill>
                    <a:srgbClr val="731F7D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O</a:t>
              </a:r>
              <a:r>
                <a:rPr lang="en-US" b="true" sz="5315" u="none">
                  <a:solidFill>
                    <a:srgbClr val="731F7D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rganização</a:t>
              </a:r>
            </a:p>
            <a:p>
              <a:pPr algn="l" marL="0" indent="0" lvl="0">
                <a:lnSpc>
                  <a:spcPts val="7300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871017"/>
              <a:ext cx="5067430" cy="276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0478" indent="-255239" lvl="1">
                <a:lnSpc>
                  <a:spcPts val="331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364" spc="-23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Calendário</a:t>
              </a:r>
            </a:p>
            <a:p>
              <a:pPr algn="l" marL="510478" indent="-255239" lvl="1">
                <a:lnSpc>
                  <a:spcPts val="331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364" spc="-23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Reuniões</a:t>
              </a:r>
            </a:p>
            <a:p>
              <a:pPr algn="l" marL="510478" indent="-255239" lvl="1">
                <a:lnSpc>
                  <a:spcPts val="331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364" spc="-23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Documentos</a:t>
              </a:r>
            </a:p>
            <a:p>
              <a:pPr algn="l" marL="510478" indent="-255239" lvl="1">
                <a:lnSpc>
                  <a:spcPts val="331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364" spc="-23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Férias/folgas</a:t>
              </a:r>
            </a:p>
            <a:p>
              <a:pPr algn="l" marL="510478" indent="-255239" lvl="1">
                <a:lnSpc>
                  <a:spcPts val="331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364" spc="-23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Horários/turnos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9440951">
            <a:off x="-957979" y="335262"/>
            <a:ext cx="2207918" cy="2092002"/>
          </a:xfrm>
          <a:custGeom>
            <a:avLst/>
            <a:gdLst/>
            <a:ahLst/>
            <a:cxnLst/>
            <a:rect r="r" b="b" t="t" l="l"/>
            <a:pathLst>
              <a:path h="2092002" w="2207918">
                <a:moveTo>
                  <a:pt x="0" y="0"/>
                </a:moveTo>
                <a:lnTo>
                  <a:pt x="2207919" y="0"/>
                </a:lnTo>
                <a:lnTo>
                  <a:pt x="2207919" y="2092002"/>
                </a:lnTo>
                <a:lnTo>
                  <a:pt x="0" y="2092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931282" y="3667209"/>
            <a:ext cx="4829977" cy="4828036"/>
            <a:chOff x="0" y="0"/>
            <a:chExt cx="6439969" cy="643738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6439969" cy="2360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19"/>
                </a:lnSpc>
              </a:pPr>
              <a:r>
                <a:rPr lang="en-US" sz="5476" b="true">
                  <a:solidFill>
                    <a:srgbClr val="731F7D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IA</a:t>
              </a:r>
            </a:p>
            <a:p>
              <a:pPr algn="l" marL="0" indent="0" lvl="0">
                <a:lnSpc>
                  <a:spcPts val="7119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820977"/>
              <a:ext cx="6439969" cy="3616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6227" indent="-283114" lvl="1">
                <a:lnSpc>
                  <a:spcPts val="367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622" spc="-26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Resumo de reuniõ</a:t>
              </a:r>
              <a:r>
                <a:rPr lang="en-US" b="true" sz="2622" spc="-26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es</a:t>
              </a:r>
            </a:p>
            <a:p>
              <a:pPr algn="l" marL="566227" indent="-283114" lvl="1">
                <a:lnSpc>
                  <a:spcPts val="367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622" spc="-26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Identificação de tarefas através de conversas</a:t>
              </a:r>
            </a:p>
            <a:p>
              <a:pPr algn="l" marL="566227" indent="-283114" lvl="1">
                <a:lnSpc>
                  <a:spcPts val="367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622" spc="-26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Sugestão de prazos</a:t>
              </a:r>
            </a:p>
            <a:p>
              <a:pPr algn="l" marL="566227" indent="-283114" lvl="1">
                <a:lnSpc>
                  <a:spcPts val="367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622" spc="-26">
                  <a:solidFill>
                    <a:srgbClr val="000000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Resumo de trabalho pendente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9440951">
            <a:off x="16853167" y="2791570"/>
            <a:ext cx="2207918" cy="2092002"/>
          </a:xfrm>
          <a:custGeom>
            <a:avLst/>
            <a:gdLst/>
            <a:ahLst/>
            <a:cxnLst/>
            <a:rect r="r" b="b" t="t" l="l"/>
            <a:pathLst>
              <a:path h="2092002" w="2207918">
                <a:moveTo>
                  <a:pt x="0" y="0"/>
                </a:moveTo>
                <a:lnTo>
                  <a:pt x="2207918" y="0"/>
                </a:lnTo>
                <a:lnTo>
                  <a:pt x="2207918" y="2092002"/>
                </a:lnTo>
                <a:lnTo>
                  <a:pt x="0" y="2092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1862" y="8345306"/>
            <a:ext cx="2729129" cy="2585849"/>
          </a:xfrm>
          <a:custGeom>
            <a:avLst/>
            <a:gdLst/>
            <a:ahLst/>
            <a:cxnLst/>
            <a:rect r="r" b="b" t="t" l="l"/>
            <a:pathLst>
              <a:path h="2585849" w="2729129">
                <a:moveTo>
                  <a:pt x="0" y="0"/>
                </a:moveTo>
                <a:lnTo>
                  <a:pt x="2729128" y="0"/>
                </a:lnTo>
                <a:lnTo>
                  <a:pt x="2729128" y="2585849"/>
                </a:lnTo>
                <a:lnTo>
                  <a:pt x="0" y="2585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185645">
            <a:off x="-4586421" y="-1313060"/>
            <a:ext cx="9901401" cy="8812247"/>
          </a:xfrm>
          <a:custGeom>
            <a:avLst/>
            <a:gdLst/>
            <a:ahLst/>
            <a:cxnLst/>
            <a:rect r="r" b="b" t="t" l="l"/>
            <a:pathLst>
              <a:path h="8812247" w="9901401">
                <a:moveTo>
                  <a:pt x="0" y="0"/>
                </a:moveTo>
                <a:lnTo>
                  <a:pt x="9901401" y="0"/>
                </a:lnTo>
                <a:lnTo>
                  <a:pt x="9901401" y="8812246"/>
                </a:lnTo>
                <a:lnTo>
                  <a:pt x="0" y="8812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03935" y="1970742"/>
            <a:ext cx="5307614" cy="210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7072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</a:t>
            </a:r>
            <a:r>
              <a:rPr lang="en-US" sz="7072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esultados Esperados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47366">
            <a:off x="5737962" y="417484"/>
            <a:ext cx="1517793" cy="1451390"/>
          </a:xfrm>
          <a:custGeom>
            <a:avLst/>
            <a:gdLst/>
            <a:ahLst/>
            <a:cxnLst/>
            <a:rect r="r" b="b" t="t" l="l"/>
            <a:pathLst>
              <a:path h="1451390" w="1517793">
                <a:moveTo>
                  <a:pt x="0" y="0"/>
                </a:moveTo>
                <a:lnTo>
                  <a:pt x="1517794" y="0"/>
                </a:lnTo>
                <a:lnTo>
                  <a:pt x="1517794" y="1451390"/>
                </a:lnTo>
                <a:lnTo>
                  <a:pt x="0" y="1451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40178" y="4469442"/>
            <a:ext cx="9582170" cy="444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  <a:spcBef>
                <a:spcPct val="0"/>
              </a:spcBef>
            </a:pPr>
            <a:r>
              <a:rPr lang="en-US" sz="2796" spc="-27">
                <a:solidFill>
                  <a:srgbClr val="0E1938"/>
                </a:solidFill>
                <a:latin typeface="Assistant"/>
                <a:ea typeface="Assistant"/>
                <a:cs typeface="Assistant"/>
                <a:sym typeface="Assistant"/>
              </a:rPr>
              <a:t>C</a:t>
            </a:r>
            <a:r>
              <a:rPr lang="en-US" sz="2796" spc="-27">
                <a:solidFill>
                  <a:srgbClr val="0E1938"/>
                </a:solidFill>
                <a:latin typeface="Assistant"/>
                <a:ea typeface="Assistant"/>
                <a:cs typeface="Assistant"/>
                <a:sym typeface="Assistant"/>
              </a:rPr>
              <a:t>om esta plataforma pretende-se </a:t>
            </a:r>
            <a:r>
              <a:rPr lang="en-US" b="true" sz="2796" spc="-27">
                <a:solidFill>
                  <a:srgbClr val="0E19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tornar o trabalho em equipa mais simples, organizado e eficiente,</a:t>
            </a:r>
            <a:r>
              <a:rPr lang="en-US" sz="2796" spc="-27">
                <a:solidFill>
                  <a:srgbClr val="0E1938"/>
                </a:solidFill>
                <a:latin typeface="Assistant"/>
                <a:ea typeface="Assistant"/>
                <a:cs typeface="Assistant"/>
                <a:sym typeface="Assistant"/>
              </a:rPr>
              <a:t> centralizando num único espaço a comunicação, as tarefas e toda a informação relacionada com cada projeto.</a:t>
            </a:r>
          </a:p>
          <a:p>
            <a:pPr algn="l">
              <a:lnSpc>
                <a:spcPts val="3915"/>
              </a:lnSpc>
              <a:spcBef>
                <a:spcPct val="0"/>
              </a:spcBef>
            </a:pPr>
          </a:p>
          <a:p>
            <a:pPr algn="l">
              <a:lnSpc>
                <a:spcPts val="3915"/>
              </a:lnSpc>
              <a:spcBef>
                <a:spcPct val="0"/>
              </a:spcBef>
            </a:pPr>
            <a:r>
              <a:rPr lang="en-US" sz="2796" spc="-27">
                <a:solidFill>
                  <a:srgbClr val="0E1938"/>
                </a:solidFill>
                <a:latin typeface="Assistant"/>
                <a:ea typeface="Assistant"/>
                <a:cs typeface="Assistant"/>
                <a:sym typeface="Assistant"/>
              </a:rPr>
              <a:t>A solução permitirá reduzir a dispersão de informação, facilitar o acompanhamento das atividades e tornar mais claras as responsabilidades de cada membro da equipa.</a:t>
            </a:r>
          </a:p>
          <a:p>
            <a:pPr algn="l">
              <a:lnSpc>
                <a:spcPts val="39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94633">
            <a:off x="-2300265" y="8843544"/>
            <a:ext cx="4315504" cy="4088940"/>
          </a:xfrm>
          <a:custGeom>
            <a:avLst/>
            <a:gdLst/>
            <a:ahLst/>
            <a:cxnLst/>
            <a:rect r="r" b="b" t="t" l="l"/>
            <a:pathLst>
              <a:path h="4088940" w="4315504">
                <a:moveTo>
                  <a:pt x="0" y="0"/>
                </a:moveTo>
                <a:lnTo>
                  <a:pt x="4315504" y="0"/>
                </a:lnTo>
                <a:lnTo>
                  <a:pt x="4315504" y="4088940"/>
                </a:lnTo>
                <a:lnTo>
                  <a:pt x="0" y="4088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13119">
            <a:off x="15158388" y="-1579634"/>
            <a:ext cx="5214256" cy="4986132"/>
          </a:xfrm>
          <a:custGeom>
            <a:avLst/>
            <a:gdLst/>
            <a:ahLst/>
            <a:cxnLst/>
            <a:rect r="r" b="b" t="t" l="l"/>
            <a:pathLst>
              <a:path h="4986132" w="5214256">
                <a:moveTo>
                  <a:pt x="0" y="0"/>
                </a:moveTo>
                <a:lnTo>
                  <a:pt x="5214256" y="0"/>
                </a:lnTo>
                <a:lnTo>
                  <a:pt x="5214256" y="4986132"/>
                </a:lnTo>
                <a:lnTo>
                  <a:pt x="0" y="49861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81555" y="1750982"/>
            <a:ext cx="13104909" cy="8736606"/>
          </a:xfrm>
          <a:custGeom>
            <a:avLst/>
            <a:gdLst/>
            <a:ahLst/>
            <a:cxnLst/>
            <a:rect r="r" b="b" t="t" l="l"/>
            <a:pathLst>
              <a:path h="8736606" w="13104909">
                <a:moveTo>
                  <a:pt x="0" y="0"/>
                </a:moveTo>
                <a:lnTo>
                  <a:pt x="13104909" y="0"/>
                </a:lnTo>
                <a:lnTo>
                  <a:pt x="13104909" y="8736605"/>
                </a:lnTo>
                <a:lnTo>
                  <a:pt x="0" y="8736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097084" y="609925"/>
            <a:ext cx="12908564" cy="83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559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Tecnologias e Desenvolvimento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94633">
            <a:off x="7828277" y="9031944"/>
            <a:ext cx="2604581" cy="2467841"/>
          </a:xfrm>
          <a:custGeom>
            <a:avLst/>
            <a:gdLst/>
            <a:ahLst/>
            <a:cxnLst/>
            <a:rect r="r" b="b" t="t" l="l"/>
            <a:pathLst>
              <a:path h="2467841" w="2604581">
                <a:moveTo>
                  <a:pt x="0" y="0"/>
                </a:moveTo>
                <a:lnTo>
                  <a:pt x="2604581" y="0"/>
                </a:lnTo>
                <a:lnTo>
                  <a:pt x="2604581" y="2467841"/>
                </a:lnTo>
                <a:lnTo>
                  <a:pt x="0" y="2467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088749">
            <a:off x="1631143" y="-2578373"/>
            <a:ext cx="3903561" cy="3698625"/>
          </a:xfrm>
          <a:custGeom>
            <a:avLst/>
            <a:gdLst/>
            <a:ahLst/>
            <a:cxnLst/>
            <a:rect r="r" b="b" t="t" l="l"/>
            <a:pathLst>
              <a:path h="3698625" w="3903561">
                <a:moveTo>
                  <a:pt x="0" y="0"/>
                </a:moveTo>
                <a:lnTo>
                  <a:pt x="3903562" y="0"/>
                </a:lnTo>
                <a:lnTo>
                  <a:pt x="3903562" y="3698625"/>
                </a:lnTo>
                <a:lnTo>
                  <a:pt x="0" y="3698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07755">
            <a:off x="13218087" y="5225672"/>
            <a:ext cx="6135171" cy="7102948"/>
          </a:xfrm>
          <a:custGeom>
            <a:avLst/>
            <a:gdLst/>
            <a:ahLst/>
            <a:cxnLst/>
            <a:rect r="r" b="b" t="t" l="l"/>
            <a:pathLst>
              <a:path h="7102948" w="6135171">
                <a:moveTo>
                  <a:pt x="0" y="0"/>
                </a:moveTo>
                <a:lnTo>
                  <a:pt x="6135171" y="0"/>
                </a:lnTo>
                <a:lnTo>
                  <a:pt x="6135171" y="7102948"/>
                </a:lnTo>
                <a:lnTo>
                  <a:pt x="0" y="7102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20945" y="3497554"/>
            <a:ext cx="11771262" cy="4128934"/>
            <a:chOff x="0" y="0"/>
            <a:chExt cx="15695017" cy="550524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9525"/>
              <a:ext cx="15695017" cy="391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82"/>
                </a:lnSpc>
              </a:pPr>
              <a:r>
                <a:rPr lang="en-US" b="true" sz="4900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"Organizar melhor, Comunicar melhor, Trabalhar melhor."</a:t>
              </a:r>
            </a:p>
            <a:p>
              <a:pPr algn="ctr">
                <a:lnSpc>
                  <a:spcPts val="5782"/>
                </a:lnSpc>
              </a:pPr>
            </a:p>
            <a:p>
              <a:pPr algn="ctr">
                <a:lnSpc>
                  <a:spcPts val="5782"/>
                </a:lnSpc>
              </a:pPr>
              <a:r>
                <a:rPr lang="en-US" b="true" sz="4900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Obrigado!!!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755835" y="4740705"/>
              <a:ext cx="12183347" cy="764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9349655">
            <a:off x="-2488359" y="5000441"/>
            <a:ext cx="6037894" cy="6990326"/>
          </a:xfrm>
          <a:custGeom>
            <a:avLst/>
            <a:gdLst/>
            <a:ahLst/>
            <a:cxnLst/>
            <a:rect r="r" b="b" t="t" l="l"/>
            <a:pathLst>
              <a:path h="6990326" w="6037894">
                <a:moveTo>
                  <a:pt x="0" y="0"/>
                </a:moveTo>
                <a:lnTo>
                  <a:pt x="6037895" y="0"/>
                </a:lnTo>
                <a:lnTo>
                  <a:pt x="6037895" y="6990327"/>
                </a:lnTo>
                <a:lnTo>
                  <a:pt x="0" y="6990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4141168">
            <a:off x="14240353" y="-3178482"/>
            <a:ext cx="6037894" cy="6990326"/>
          </a:xfrm>
          <a:custGeom>
            <a:avLst/>
            <a:gdLst/>
            <a:ahLst/>
            <a:cxnLst/>
            <a:rect r="r" b="b" t="t" l="l"/>
            <a:pathLst>
              <a:path h="6990326" w="6037894">
                <a:moveTo>
                  <a:pt x="0" y="0"/>
                </a:moveTo>
                <a:lnTo>
                  <a:pt x="6037894" y="0"/>
                </a:lnTo>
                <a:lnTo>
                  <a:pt x="6037894" y="6990326"/>
                </a:lnTo>
                <a:lnTo>
                  <a:pt x="0" y="6990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DAHXapMRMW4</dc:identifier>
  <dcterms:modified xsi:type="dcterms:W3CDTF">2011-08-01T06:04:30Z</dcterms:modified>
  <cp:revision>1</cp:revision>
  <dc:title>Proj. Software fase 1.</dc:title>
</cp:coreProperties>
</file>